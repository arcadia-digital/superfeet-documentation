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ADIA_DARK">
    <p:bg>
      <p:bgPr>
        <a:solidFill>
          <a:srgbClr val="0B3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234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ARCADIADIGITAL.COM</a:t>
            </a:r>
            <a:endParaRPr lang="en-US" sz="800" dirty="0"/>
          </a:p>
        </p:txBody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ADIA_LIGHT">
    <p:bg>
      <p:bgPr>
        <a:solidFill>
          <a:srgbClr val="F1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8234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ARCADIADIGITAL.COM</a:t>
            </a:r>
            <a:endParaRPr lang="en-US" sz="800" dirty="0"/>
          </a:p>
        </p:txBody>
      </p:sp>
      <p:sp>
        <p:nvSpPr>
          <p:cNvPr id="4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DDBB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Arcadia × Superfeet: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DTC Acceleration Closeout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2743200" cy="0"/>
          </a:xfrm>
          <a:prstGeom prst="line">
            <a:avLst/>
          </a:prstGeom>
          <a:noFill/>
          <a:ln w="19050">
            <a:solidFill>
              <a:srgbClr val="BDDB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9748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Improved DTC contribution margin through conversion efficiency, marketing economics, and funnel friction reduction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US results most pronounced; Canada and UK validate scalability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Engagement concludes with a clear operating model and priority set for the next phase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US-Led  |  Prepared by Arcadia Digital  |  2025</a:t>
            </a:r>
            <a:endParaRPr lang="en-US" sz="1000" dirty="0"/>
          </a:p>
        </p:txBody>
      </p:sp>
      <p:sp>
        <p:nvSpPr>
          <p:cNvPr id="7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ENGAGEMENT MANDATE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Why Arcadia was engaged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2468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0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54480"/>
            <a:ext cx="457200" cy="457200"/>
          </a:xfrm>
          <a:prstGeom prst="ellipse">
            <a:avLst/>
          </a:prstGeom>
          <a:solidFill>
            <a:srgbClr val="0B33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Growth without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margin erosion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DTC growth needed to occur without contribution margin degradation — revenue at the expense of economics was not acceptable.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468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0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554480"/>
            <a:ext cx="457200" cy="457200"/>
          </a:xfrm>
          <a:prstGeom prst="ellipse">
            <a:avLst/>
          </a:prstGeom>
          <a:solidFill>
            <a:srgbClr val="0B33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45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Efficiency under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paid reliance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044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Heavy dependence on paid acquisition channels required rigorous efficiency discipline across every marketing dollar.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89320" y="1371600"/>
            <a:ext cx="24688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0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1554480"/>
            <a:ext cx="457200" cy="457200"/>
          </a:xfrm>
          <a:prstGeom prst="ellipse">
            <a:avLst/>
          </a:prstGeom>
          <a:solidFill>
            <a:srgbClr val="0B332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459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148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Platform risk during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transition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An in-flight platform migration created execution risk during a critical growth period, demanding stability alongside progress.</a:t>
            </a:r>
            <a:endParaRPr lang="en-US" sz="1000" dirty="0"/>
          </a:p>
        </p:txBody>
      </p:sp>
      <p:sp>
        <p:nvSpPr>
          <p:cNvPr id="19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Contribution margin governed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every tradeoff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Revenue growth was explicitly deprioritized if it degraded contribution margin. This single lens unified decision-making across marketing, product, and market expansion.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94960" y="1828800"/>
            <a:ext cx="1097280" cy="1097280"/>
          </a:xfrm>
          <a:prstGeom prst="ellipse">
            <a:avLst/>
          </a:prstGeom>
          <a:solidFill>
            <a:srgbClr val="0B3321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0" y="20116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First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0" y="960120"/>
            <a:ext cx="1645920" cy="457200"/>
          </a:xfrm>
          <a:prstGeom prst="rect">
            <a:avLst/>
          </a:prstGeom>
          <a:solidFill>
            <a:srgbClr val="BDDBB9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0" y="960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Marketing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Spend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949440" y="2148840"/>
            <a:ext cx="1645920" cy="457200"/>
          </a:xfrm>
          <a:prstGeom prst="rect">
            <a:avLst/>
          </a:prstGeom>
          <a:solidFill>
            <a:srgbClr val="BDDBB9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Conversion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Optimization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03520" y="3337560"/>
            <a:ext cx="1645920" cy="457200"/>
          </a:xfrm>
          <a:prstGeom prst="rect">
            <a:avLst/>
          </a:prstGeom>
          <a:solidFill>
            <a:srgbClr val="BDDBB9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Site Experience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Investments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FRAMEWORK GOVERNED: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Paid media scale decisions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Funnel optimization priorities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Market expansion pacing (CA / UK)</a:t>
            </a:r>
            <a:endParaRPr lang="en-US" sz="1100" dirty="0"/>
          </a:p>
        </p:txBody>
      </p:sp>
      <p:sp>
        <p:nvSpPr>
          <p:cNvPr id="15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PRIMARY 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US business outcomes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Core efficiency metrics improved meaningfully across conversion, visit economics, and return on ad spend — without reliance on traffic volume growth.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8660" y="1920240"/>
            <a:ext cx="1828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0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" y="1920240"/>
            <a:ext cx="1828800" cy="54864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7" name="Text 5"/>
          <p:cNvSpPr/>
          <p:nvPr/>
        </p:nvSpPr>
        <p:spPr>
          <a:xfrm>
            <a:off x="84582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CVR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4582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Conversion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582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↑ vs PY &amp; Plan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74620" y="1920240"/>
            <a:ext cx="1828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0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4620" y="1920240"/>
            <a:ext cx="1828800" cy="54864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12" name="Text 10"/>
          <p:cNvSpPr/>
          <p:nvPr/>
        </p:nvSpPr>
        <p:spPr>
          <a:xfrm>
            <a:off x="281178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$/Visit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8117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per Visit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1178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↑ vs PY &amp; Plan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0580" y="1920240"/>
            <a:ext cx="1828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0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0580" y="1920240"/>
            <a:ext cx="1828800" cy="54864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17" name="Text 15"/>
          <p:cNvSpPr/>
          <p:nvPr/>
        </p:nvSpPr>
        <p:spPr>
          <a:xfrm>
            <a:off x="477774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ROAS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7774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Return on Ad Spend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774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Stabilized / Improved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06540" y="1920240"/>
            <a:ext cx="18288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0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6540" y="1920240"/>
            <a:ext cx="1828800" cy="54864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22" name="Text 20"/>
          <p:cNvSpPr/>
          <p:nvPr/>
        </p:nvSpPr>
        <p:spPr>
          <a:xfrm>
            <a:off x="674370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Mix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4370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Paid vs CRM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4370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Healthier blend</a:t>
            </a:r>
            <a:endParaRPr lang="en-US" sz="1100" dirty="0"/>
          </a:p>
        </p:txBody>
      </p:sp>
      <p:sp>
        <p:nvSpPr>
          <p:cNvPr id="25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MARKETING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From reactive spend to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economically governed acquisition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" cy="731520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Profitable demand, not top-line growth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Paid media optimized for profitable demand generation. Spend expanded only where unit economics justified it.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45720" cy="731520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CRM as a CM stabilizer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Owned channels and CRM positioned as contribution margin stabilizers — not silver bullet growth levers.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5720" cy="731520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Disciplined acquisition economics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Shift from reactive spend patterns to a systematic, economically governed approach to customer acquisition.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1600200"/>
            <a:ext cx="2926080" cy="2880360"/>
          </a:xfrm>
          <a:prstGeom prst="rect">
            <a:avLst/>
          </a:prstGeom>
          <a:solidFill>
            <a:srgbClr val="BDDBB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CANADA &amp; UK SIGNAL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0" y="214884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Lower absolute volume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Comparable efficiency patterns</a:t>
            </a:r>
            <a:endParaRPr lang="en-US" sz="10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Demonstrates repeatability without margin collapse</a:t>
            </a:r>
            <a:endParaRPr lang="en-US" sz="1000" dirty="0"/>
          </a:p>
        </p:txBody>
      </p:sp>
      <p:sp>
        <p:nvSpPr>
          <p:cNvPr id="16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FUNNEL OPTIMIZATION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Why speed &amp; UX mattered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Friction reduction was not a performance exercise — it was an economic one. Every point of conversion efficiency reduced the pressure on customer acquisition cost.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2194560"/>
            <a:ext cx="1737360" cy="1188720"/>
          </a:xfrm>
          <a:prstGeom prst="rect">
            <a:avLst/>
          </a:prstGeom>
          <a:solidFill>
            <a:srgbClr val="BDDBB9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194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Reduced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friction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651760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06040" y="2194560"/>
            <a:ext cx="1737360" cy="1188720"/>
          </a:xfrm>
          <a:prstGeom prst="rect">
            <a:avLst/>
          </a:prstGeom>
          <a:solidFill>
            <a:srgbClr val="BDDBB9"/>
          </a:solidFill>
          <a:ln/>
        </p:spPr>
      </p:sp>
      <p:sp>
        <p:nvSpPr>
          <p:cNvPr id="9" name="Text 6"/>
          <p:cNvSpPr/>
          <p:nvPr/>
        </p:nvSpPr>
        <p:spPr>
          <a:xfrm>
            <a:off x="2606040" y="2194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Higher conversion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efficiency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6517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00600" y="2194560"/>
            <a:ext cx="1737360" cy="1188720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12" name="Text 8"/>
          <p:cNvSpPr/>
          <p:nvPr/>
        </p:nvSpPr>
        <p:spPr>
          <a:xfrm>
            <a:off x="4800600" y="2194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Lower CAC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pressure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651760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995160" y="2194560"/>
            <a:ext cx="1737360" cy="1188720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15" name="Text 10"/>
          <p:cNvSpPr/>
          <p:nvPr/>
        </p:nvSpPr>
        <p:spPr>
          <a:xfrm>
            <a:off x="6995160" y="21945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protection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7B6C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Performance investment reframed as margin protection, not a technical exercise.</a:t>
            </a:r>
            <a:endParaRPr lang="en-US" sz="1100" dirty="0"/>
          </a:p>
        </p:txBody>
      </p:sp>
      <p:sp>
        <p:nvSpPr>
          <p:cNvPr id="17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7B6C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VALIDATION MARKETS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Canada &amp; UK confirm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operating model portability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International markets operated as scaled-down implementations of the US model. The question was not whether they would replicate US scale, but whether the framework held at lower volumes.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886200" cy="365760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CANADA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Scaled-down implementation of US playbook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Similar efficiency patterns at lower volume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No evidence of margin degradation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Operating model transferred without modification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286000"/>
            <a:ext cx="3886200" cy="365760"/>
          </a:xfrm>
          <a:prstGeom prst="rect">
            <a:avLst/>
          </a:prstGeom>
          <a:solidFill>
            <a:srgbClr val="0B3321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286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278892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Earliest-stage market in the portfolio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Comparable efficiency trajectory emerging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Validates framework at lowest volume threshold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Confirms expansion readiness criteria</a:t>
            </a:r>
            <a:endParaRPr lang="en-US" sz="1100" dirty="0"/>
          </a:p>
        </p:txBody>
      </p:sp>
      <p:sp>
        <p:nvSpPr>
          <p:cNvPr id="11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DDBB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ENGAGEMENT LEGACY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What Superfeet is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stronger at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794760" cy="10972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45720" cy="1097280"/>
          </a:xfrm>
          <a:prstGeom prst="rect">
            <a:avLst/>
          </a:prstGeom>
          <a:solidFill>
            <a:srgbClr val="BDDBB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CM-first decision framework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7B6C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A shared lens for evaluating tradeoffs across marketing, product, and operations — contribution margin comes first.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794760" cy="10972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Shape 7"/>
          <p:cNvSpPr/>
          <p:nvPr/>
        </p:nvSpPr>
        <p:spPr>
          <a:xfrm>
            <a:off x="4480560" y="1828800"/>
            <a:ext cx="45720" cy="1097280"/>
          </a:xfrm>
          <a:prstGeom prst="rect">
            <a:avLst/>
          </a:prstGeom>
          <a:solidFill>
            <a:srgbClr val="BDDBB9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920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Repeatable DTC operating cadence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22860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7B6C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Weekly and monthly business reviews (WBR / MBR) that create accountability and rhythm around efficiency metrics.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794760" cy="10972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63240"/>
            <a:ext cx="45720" cy="1097280"/>
          </a:xfrm>
          <a:prstGeom prst="rect">
            <a:avLst/>
          </a:prstGeom>
          <a:solidFill>
            <a:srgbClr val="BDDBB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54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Marketing economics discipline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7B6C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Spend governance rooted in unit economics, not top-line targets. The team knows how to say no to unprofitable growth.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3063240"/>
            <a:ext cx="3794760" cy="10972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3063240"/>
            <a:ext cx="45720" cy="1097280"/>
          </a:xfrm>
          <a:prstGeom prst="rect">
            <a:avLst/>
          </a:prstGeom>
          <a:solidFill>
            <a:srgbClr val="BDDBB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154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Platform stability for growth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5204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7B6C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Site performance and infrastructure sufficient to support the next phase of scale without creating drag.</a:t>
            </a:r>
            <a:endParaRPr lang="en-US" sz="1000" dirty="0"/>
          </a:p>
        </p:txBody>
      </p:sp>
      <p:sp>
        <p:nvSpPr>
          <p:cNvPr id="20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E29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RISKS &amp; WATCH-OUTS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What breaks if leadership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stops paying attention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0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" cy="914400"/>
          </a:xfrm>
          <a:prstGeom prst="rect">
            <a:avLst/>
          </a:prstGeom>
          <a:solidFill>
            <a:srgbClr val="8E29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29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Performance loses priority to campaign urgency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Site speed, conversion optimization, and quality investments get deprioritized when campaign deadlines create pressure. The efficiency gains erode slowly, then suddenly.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0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51760"/>
            <a:ext cx="54864" cy="914400"/>
          </a:xfrm>
          <a:prstGeom prst="rect">
            <a:avLst/>
          </a:prstGeom>
          <a:solidFill>
            <a:srgbClr val="8E29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29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Efficiency discipline erodes under growth pressure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063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As targets increase, the temptation to chase top-line revenue at the expense of unit economics returns. CM guardrails must be actively maintained, not assumed.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0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49040"/>
            <a:ext cx="54864" cy="914400"/>
          </a:xfrm>
          <a:prstGeom prst="rect">
            <a:avLst/>
          </a:prstGeom>
          <a:solidFill>
            <a:srgbClr val="8E29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29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2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Market expansion without CM guardrails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41414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Expanding into new markets or channels without applying the same contribution margin framework risks recreating the inefficiencies Arcadia was engaged to resolve.</a:t>
            </a:r>
            <a:endParaRPr lang="en-US" sz="1000" dirty="0"/>
          </a:p>
        </p:txBody>
      </p:sp>
      <p:sp>
        <p:nvSpPr>
          <p:cNvPr id="19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BDDBB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POST-ARCADIA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Recommended 90-day focus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DDBB9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Three priorities — all anchored to contribution margin.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BDDBB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Protect conversion efficiency gains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7B6C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Maintain investment in site performance, UX, and funnel optimization. These gains are fragile and compound over time.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11480" cy="411480"/>
          </a:xfrm>
          <a:prstGeom prst="ellipse">
            <a:avLst/>
          </a:prstGeom>
          <a:solidFill>
            <a:srgbClr val="BDDBB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Maintain marketing spend discipline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7B6C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Continue governing acquisition through unit economics. Resist the pull toward volume-based targets that erode margins.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rgbClr val="BDDBB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32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703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Expand only where economics are proven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9776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7B6C1"/>
                </a:solidFill>
                <a:latin typeface="Aptos Serif" pitchFamily="34" charset="0"/>
                <a:ea typeface="Aptos Serif" pitchFamily="34" charset="-122"/>
                <a:cs typeface="Aptos Serif" pitchFamily="34" charset="-120"/>
              </a:rPr>
              <a:t>Apply the CM framework to any new channel, market, or initiative. If the economics aren't clear, don't scale it.</a:t>
            </a:r>
            <a:endParaRPr lang="en-US" sz="1100" dirty="0"/>
          </a:p>
        </p:txBody>
      </p:sp>
      <p:sp>
        <p:nvSpPr>
          <p:cNvPr id="17" name="Text 2"/>
          <p:cNvSpPr/>
          <p:nvPr>
            <p:ph idx="102" hasCustomPrompt="1"/>
          </p:nvPr>
        </p:nvSpPr>
        <p:spPr>
          <a:xfrm>
            <a:off x="7680960" y="48234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Arcadia × Superfeet: DTC Acceleration Closeout</dc:title>
  <dc:subject>PptxGenJS Presentation</dc:subject>
  <dc:creator>Arcadia Digital</dc:creator>
  <cp:lastModifiedBy>Arcadia Digital</cp:lastModifiedBy>
  <cp:revision>1</cp:revision>
  <dcterms:created xsi:type="dcterms:W3CDTF">2026-03-18T20:26:23Z</dcterms:created>
  <dcterms:modified xsi:type="dcterms:W3CDTF">2026-03-18T20:26:23Z</dcterms:modified>
</cp:coreProperties>
</file>